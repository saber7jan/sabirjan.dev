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EmotiFi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Contactless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Recognition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Wi-Fi CSI &amp; Deep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Edge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347472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474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Wi-Fi Sensing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950208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502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On-Device Inference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3950208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9502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Privacy-Safe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Sabir Jan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Engineering — COMSATS University Islamabad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300" dirty="0"/>
          </a:p>
        </p:txBody>
      </p:sp>
      <p:pic>
        <p:nvPicPr>
          <p:cNvPr id="14" name="Image 0" descr="/mnt/user-data/uploads/Current_spec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37160"/>
            <a:ext cx="3291840" cy="4846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69280" y="137160"/>
            <a:ext cx="3291840" cy="4846320"/>
          </a:xfrm>
          <a:prstGeom prst="rect">
            <a:avLst/>
          </a:prstGeom>
          <a:solidFill>
            <a:srgbClr val="071826">
              <a:alpha val="4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4572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Live CSI Spectrogram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051560"/>
          </a:xfrm>
          <a:prstGeom prst="rect">
            <a:avLst/>
          </a:prstGeom>
          <a:solidFill>
            <a:srgbClr val="0D22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Cameras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3167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violations, poor low-light performance, intrusive surveillance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114800" cy="1051560"/>
          </a:xfrm>
          <a:prstGeom prst="rect">
            <a:avLst/>
          </a:prstGeom>
          <a:solidFill>
            <a:srgbClr val="0D22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⌚  Wearables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054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Uncomfortable, require consent, impractical for passive 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114800" cy="1051560"/>
          </a:xfrm>
          <a:prstGeom prst="rect">
            <a:avLst/>
          </a:prstGeom>
          <a:solidFill>
            <a:srgbClr val="0D22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64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Lab Sensors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6941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require specialist setup, not scalable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931920" cy="3474720"/>
          </a:xfrm>
          <a:prstGeom prst="rect">
            <a:avLst/>
          </a:prstGeom>
          <a:solidFill>
            <a:srgbClr val="0A2233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System That Is...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Contactless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Privacy-Preserving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492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492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Low-Cost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492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Camera-Free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55371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B8CC"/>
                </a:solidFill>
              </a:rPr>
              <a:t>"Works in darkness. Through walls. Without a camera."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EmotiFi uses Wi-Fi Channel State Information (CSI) captured via ESP32 to detect subtle body disturbances caused by human emotions — no camera, no wearable.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6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801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CSI signals via ESP32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384048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6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4597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spectrograms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99816"/>
            <a:ext cx="384048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6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1181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CNN inference (ResNet18 / EfficientNetV2B0)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58184"/>
            <a:ext cx="384048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6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7764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emotion in real-time on Android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536192" cy="384048"/>
          </a:xfrm>
          <a:prstGeom prst="roundRect">
            <a:avLst>
              <a:gd name="adj" fmla="val 11905"/>
            </a:avLst>
          </a:prstGeom>
          <a:solidFill>
            <a:srgbClr val="1565C0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177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😄 Happy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21408" y="4617720"/>
            <a:ext cx="1536192" cy="384048"/>
          </a:xfrm>
          <a:prstGeom prst="roundRect">
            <a:avLst>
              <a:gd name="adj" fmla="val 11905"/>
            </a:avLst>
          </a:prstGeom>
          <a:solidFill>
            <a:srgbClr val="1565C0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1408" y="46177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😢 Sad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85616" y="4617720"/>
            <a:ext cx="1536192" cy="384048"/>
          </a:xfrm>
          <a:prstGeom prst="roundRect">
            <a:avLst>
              <a:gd name="adj" fmla="val 11905"/>
            </a:avLst>
          </a:prstGeom>
          <a:solidFill>
            <a:srgbClr val="1565C0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46177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😨 Fear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9824" y="4617720"/>
            <a:ext cx="1536192" cy="384048"/>
          </a:xfrm>
          <a:prstGeom prst="roundRect">
            <a:avLst>
              <a:gd name="adj" fmla="val 11905"/>
            </a:avLst>
          </a:prstGeom>
          <a:solidFill>
            <a:srgbClr val="1565C0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46177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😐 Neutral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14032" y="4617720"/>
            <a:ext cx="1536192" cy="384048"/>
          </a:xfrm>
          <a:prstGeom prst="roundRect">
            <a:avLst>
              <a:gd name="adj" fmla="val 11905"/>
            </a:avLst>
          </a:prstGeom>
          <a:solidFill>
            <a:srgbClr val="1565C0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46177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😲 Surprised</a:t>
            </a:r>
            <a:endParaRPr lang="en-US" sz="1200" dirty="0"/>
          </a:p>
        </p:txBody>
      </p:sp>
      <p:pic>
        <p:nvPicPr>
          <p:cNvPr id="26" name="Image 0" descr="/mnt/user-data/uploads/prediction_realTim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731520"/>
            <a:ext cx="3017520" cy="41148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69280" y="4892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Real-time prediction on Android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/ Approach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60520" cy="192024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Data Acquisition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ESP32 TX sends Wi-Fi packets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ESP32 RX captures CSI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USB Serial to Android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4160520" cy="192024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91440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Signal 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353312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Amplitude extraction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Noise filtering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 normalization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Spectrogram generation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160520" cy="192024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7180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AI Pipeline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10712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Spectrograms → CNN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ResNet18 / EfficientNetV2B0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PyTorch Mobile Lite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971800"/>
            <a:ext cx="4160520" cy="192024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97180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410712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prediction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spectrogram 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CSV dataset logging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8CC"/>
                </a:solidFill>
              </a:rPr>
              <a:t>Wi-Fi CSI  →  Amplitude Extraction  →  Filtering  →  Spectrogram  →  CNN  →  Emotion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Development Stage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6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TX/RX communication established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20240"/>
            <a:ext cx="502920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6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CSI capture working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502920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6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USB Serial integration completed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41148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749040"/>
            <a:ext cx="502920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490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6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spectrogram rendering implemented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005840"/>
            <a:ext cx="502920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6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0058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 generation pipeline ready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920240"/>
            <a:ext cx="41148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920240"/>
            <a:ext cx="502920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6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19202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Lite model integrated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41148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834640"/>
            <a:ext cx="502920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834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6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9240" y="28346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mobile inference pipeline under testing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41148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749040"/>
            <a:ext cx="502920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490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6"/>
                </a:solidFill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37490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/ web communication prototype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" y="1463040"/>
            <a:ext cx="1115568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49961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ESP32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Transmitter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0482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CC"/>
                </a:solidFill>
              </a:rPr>
              <a:t>Wi-Fi TX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62456" y="1883664"/>
            <a:ext cx="10972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1463040"/>
            <a:ext cx="1115568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0472" y="149961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ESP32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Receiver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90472" y="20482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CC"/>
                </a:solidFill>
              </a:rPr>
              <a:t>CSI Capture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24328" y="1883664"/>
            <a:ext cx="10972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2344" y="1463040"/>
            <a:ext cx="1115568" cy="8412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149961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Android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52344" y="20482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CC"/>
                </a:solidFill>
              </a:rPr>
              <a:t>USB Serial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883664"/>
            <a:ext cx="10972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14216" y="1463040"/>
            <a:ext cx="1115568" cy="8412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14216" y="149961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14216" y="20482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CC"/>
                </a:solidFill>
              </a:rPr>
              <a:t>Filtering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48072" y="1883664"/>
            <a:ext cx="10972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6088" y="1463040"/>
            <a:ext cx="1115568" cy="8412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149961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Spectrogram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76088" y="20482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CC"/>
                </a:solidFill>
              </a:rPr>
              <a:t>FFT-based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9944" y="1883664"/>
            <a:ext cx="10972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1463040"/>
            <a:ext cx="1115568" cy="841248"/>
          </a:xfrm>
          <a:prstGeom prst="rect">
            <a:avLst/>
          </a:prstGeom>
          <a:solidFill>
            <a:srgbClr val="4527A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49961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CNN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(ResNet18)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20482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CC"/>
                </a:solidFill>
              </a:rPr>
              <a:t>PyTorch Lite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71816" y="1883664"/>
            <a:ext cx="10972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99832" y="1463040"/>
            <a:ext cx="1115568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9832" y="149961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Emotion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99832" y="20482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8CC"/>
                </a:solidFill>
              </a:rPr>
              <a:t>Real-time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2235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Real-time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48840" y="40233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2235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4884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Contactless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40480" y="40233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2235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Privacy-safe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32120" y="40233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2235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Edge AI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23760" y="40233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2235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No Cloud</a:t>
            </a:r>
            <a:endParaRPr lang="en-US" sz="1100" dirty="0"/>
          </a:p>
        </p:txBody>
      </p:sp>
      <p:pic>
        <p:nvPicPr>
          <p:cNvPr id="40" name="Image 0" descr="/mnt/user-data/uploads/csi_receiver_arduin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4480560"/>
            <a:ext cx="8412480" cy="59436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365760" y="4480560"/>
            <a:ext cx="8412480" cy="594360"/>
          </a:xfrm>
          <a:prstGeom prst="rect">
            <a:avLst/>
          </a:prstGeom>
          <a:solidFill>
            <a:srgbClr val="071826">
              <a:alpha val="4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" y="4480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Live CSI data stream from ESP32 receiver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084832" cy="4023360"/>
          </a:xfrm>
          <a:prstGeom prst="rect">
            <a:avLst/>
          </a:prstGeom>
          <a:solidFill>
            <a:srgbClr val="0A2233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084832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601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Hardware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ESP32 (TX &amp; RX)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1214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USB OTG Cable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6883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Android Phone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325526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802.11n Wi-Fi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2084832" cy="4023360"/>
          </a:xfrm>
          <a:prstGeom prst="rect">
            <a:avLst/>
          </a:prstGeom>
          <a:solidFill>
            <a:srgbClr val="0A2233"/>
          </a:solidFill>
          <a:ln w="19050">
            <a:solidFill>
              <a:srgbClr val="0060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960120"/>
            <a:ext cx="2084832" cy="47548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9601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💻 Software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Android Studio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1214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6883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25526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8221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960120"/>
            <a:ext cx="2084832" cy="4023360"/>
          </a:xfrm>
          <a:prstGeom prst="rect">
            <a:avLst/>
          </a:prstGeom>
          <a:solidFill>
            <a:srgbClr val="0A2233"/>
          </a:solidFill>
          <a:ln w="19050">
            <a:solidFill>
              <a:srgbClr val="4527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960120"/>
            <a:ext cx="2084832" cy="475488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9601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AI / 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ResNet18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1214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EfficientNetV2B0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36592" y="26883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PyTorch Mobile Lite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592" y="325526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ONNX Runtime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03136" y="960120"/>
            <a:ext cx="2084832" cy="4023360"/>
          </a:xfrm>
          <a:prstGeom prst="rect">
            <a:avLst/>
          </a:prstGeom>
          <a:solidFill>
            <a:srgbClr val="0A2233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960120"/>
            <a:ext cx="2084832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76288" y="9601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Signal Processing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12864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FFT Spectrograms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12864" y="21214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CSI Amplitude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12864" y="26883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 Normalization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12864" y="325526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 CSI Dataset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&amp; CSI Parameters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CSI Configuration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393192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Wi-Fi Channel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80360" y="12618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3931920" cy="384048"/>
          </a:xfrm>
          <a:prstGeom prst="rect">
            <a:avLst/>
          </a:prstGeom>
          <a:solidFill>
            <a:srgbClr val="0A2233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Channel Bandwidth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1645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20 MHz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393192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CSI Sampling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20299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100 pps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3931920" cy="384048"/>
          </a:xfrm>
          <a:prstGeom prst="rect">
            <a:avLst/>
          </a:prstGeom>
          <a:solidFill>
            <a:srgbClr val="0A2233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140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Number of Subcarriers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2414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64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393192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980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Center Frequency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27980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2.4 GHz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3931920" cy="384048"/>
          </a:xfrm>
          <a:prstGeom prst="rect">
            <a:avLst/>
          </a:prstGeom>
          <a:solidFill>
            <a:srgbClr val="0A2233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82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Sampling Time Window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31821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5 sec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393192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Sampling Frequency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35661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100 Hz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3931920" cy="384048"/>
          </a:xfrm>
          <a:prstGeom prst="rect">
            <a:avLst/>
          </a:prstGeom>
          <a:solidFill>
            <a:srgbClr val="0A2233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50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Transmitter Power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80360" y="39502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20 dBm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334256"/>
            <a:ext cx="393192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34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Emotion Classes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80360" y="43342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1261872"/>
            <a:ext cx="3931920" cy="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868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Collected Dataset Summary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1261872"/>
            <a:ext cx="42062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261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12618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 Person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12618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Reflect.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1261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 Reflect.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1691640"/>
            <a:ext cx="420624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691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Neutral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0" y="1691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1691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60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89520" y="1691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188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2075688"/>
            <a:ext cx="4206240" cy="384048"/>
          </a:xfrm>
          <a:prstGeom prst="rect">
            <a:avLst/>
          </a:prstGeom>
          <a:solidFill>
            <a:srgbClr val="0A2233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075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Happy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760720" y="20756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20756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60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89520" y="20756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188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2459736"/>
            <a:ext cx="420624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4597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760720" y="24597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83680" y="24597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60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89520" y="2459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188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2843784"/>
            <a:ext cx="4206240" cy="384048"/>
          </a:xfrm>
          <a:prstGeom prst="rect">
            <a:avLst/>
          </a:prstGeom>
          <a:solidFill>
            <a:srgbClr val="0A2233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28437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760720" y="28437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83680" y="28437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60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589520" y="2843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188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3227832"/>
            <a:ext cx="420624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2278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Surprise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760720" y="3227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83680" y="32278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60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589520" y="3227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188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63440" y="3611880"/>
            <a:ext cx="42062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3611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760720" y="36118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8368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600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589520" y="3611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940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63440" y="3977640"/>
            <a:ext cx="1965960" cy="822960"/>
          </a:xfrm>
          <a:prstGeom prst="rect">
            <a:avLst/>
          </a:prstGeom>
          <a:solidFill>
            <a:srgbClr val="0D2235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63440" y="3977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Without Reflectors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63440" y="42793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600 total samples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Baseline setup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903720" y="3977640"/>
            <a:ext cx="1965960" cy="822960"/>
          </a:xfrm>
          <a:prstGeom prst="rect">
            <a:avLst/>
          </a:prstGeom>
          <a:solidFill>
            <a:srgbClr val="0D2235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03720" y="3977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00"/>
                </a:solidFill>
              </a:rPr>
              <a:t>With Reflectors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903720" y="42793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940 total samples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Enhanced signal clarity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65760" y="4864608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8CC"/>
                </a:solidFill>
              </a:rPr>
              <a:t>Two-approach dataset: reflectors boosted signal quality and increased class-separability in spectrograms.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233"/>
          </a:solidFill>
          <a:ln w="12700">
            <a:solidFill>
              <a:srgbClr val="0A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 1 — ResNet18 on RGB Spectrograms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160520" cy="2103120"/>
          </a:xfrm>
          <a:prstGeom prst="rect">
            <a:avLst/>
          </a:prstGeom>
          <a:solidFill>
            <a:srgbClr val="0D22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41605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ResNet18?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Fast, efficient deep learning model for image classification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Skip connections help learn better even in deep networks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Good starting point for learning emotional signal patterns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Lightweight enough for PyTorch Mobile deployment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160520" cy="749808"/>
          </a:xfrm>
          <a:prstGeom prst="rect">
            <a:avLst/>
          </a:prstGeom>
          <a:solidFill>
            <a:srgbClr val="1A0A0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626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⚠  Problem: Test Accuracy Only 49%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DD2"/>
                </a:solidFill>
              </a:rPr>
              <a:t>Model overfit on training data — poor generalization to new subjects.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767328"/>
            <a:ext cx="4160520" cy="1188720"/>
          </a:xfrm>
          <a:prstGeom prst="rect">
            <a:avLst/>
          </a:prstGeom>
          <a:solidFill>
            <a:srgbClr val="0D2235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0390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00"/>
                </a:solidFill>
              </a:rPr>
              <a:t>Root Causes Identified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leakage — subject identity leaked across train/test splits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Noisy spectrograms with overlapping emotional signals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Unclear emotion patterns in raw CSI data</a:t>
            </a:r>
            <a:endParaRPr lang="en-US" sz="1100" dirty="0"/>
          </a:p>
        </p:txBody>
      </p:sp>
      <p:pic>
        <p:nvPicPr>
          <p:cNvPr id="18" name="Image 0" descr="/mnt/user-data/uploads/1778456215584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749808"/>
            <a:ext cx="4251960" cy="42062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663440" y="749808"/>
            <a:ext cx="4251960" cy="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495604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</a:rPr>
              <a:t>Training accuracy ~98% vs Test 49% — classic overfitting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233"/>
          </a:solidFill>
          <a:ln w="12700">
            <a:solidFill>
              <a:srgbClr val="0A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 2 — EfficientNetV2B0 + Slicing &amp; Augmentation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160520" cy="1417320"/>
          </a:xfrm>
          <a:prstGeom prst="rect">
            <a:avLst/>
          </a:prstGeom>
          <a:solidFill>
            <a:srgbClr val="0D2235"/>
          </a:solidFill>
          <a:ln w="19050">
            <a:solidFill>
              <a:srgbClr val="4527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4160520" cy="36576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Switch to EfficientNetV2B0?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overfit and failed on new data. EfficientNetV2B0 balances width, depth, and resolution — better generalization with same compute budget.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67712"/>
            <a:ext cx="4160520" cy="1600200"/>
          </a:xfrm>
          <a:prstGeom prst="rect">
            <a:avLst/>
          </a:prstGeom>
          <a:solidFill>
            <a:srgbClr val="0D2235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042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Improvements Applied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Spectrogram slicing — improve feature visibility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augmentation — increase training diversity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4670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Without augmentation: Test Acc = 29%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941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With augmentation:    Test Acc = 34%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959352"/>
            <a:ext cx="4160520" cy="658368"/>
          </a:xfrm>
          <a:prstGeom prst="rect">
            <a:avLst/>
          </a:prstGeom>
          <a:solidFill>
            <a:srgbClr val="1A120A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9592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insufficient — gap between train &amp; test accuracy remains large.</a:t>
            </a:r>
            <a:endParaRPr lang="en-US" sz="1100" dirty="0"/>
          </a:p>
        </p:txBody>
      </p:sp>
      <p:pic>
        <p:nvPicPr>
          <p:cNvPr id="17" name="Image 0" descr="/mnt/user-data/uploads/1778456231685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749808"/>
            <a:ext cx="4251960" cy="4069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663440" y="484632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</a:rPr>
              <a:t>Left: slicing only (29%). Right: slicing + augmentation (34%)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233"/>
          </a:solidFill>
          <a:ln w="12700">
            <a:solidFill>
              <a:srgbClr val="0A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 3 — Absolute Difference Spectrograms + Fair Data Splitting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160520" cy="1691640"/>
          </a:xfrm>
          <a:prstGeom prst="rect">
            <a:avLst/>
          </a:prstGeom>
          <a:solidFill>
            <a:srgbClr val="0D2235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4160520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826"/>
                </a:solidFill>
              </a:rPr>
              <a:t>What Changed in Exp. 3?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Absolute Difference spectrograms — isolate emotional signal changes more clearly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Improved data split — all 5 emotions per person kept in same split to prevent data leakage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Result: better separation of emotional signals, model learns meaningful patterns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42032"/>
            <a:ext cx="2011680" cy="868680"/>
          </a:xfrm>
          <a:prstGeom prst="rect">
            <a:avLst/>
          </a:prstGeom>
          <a:solidFill>
            <a:srgbClr val="0D2235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78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00"/>
                </a:solidFill>
              </a:rPr>
              <a:t>With Augmentation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898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 Acc: 44.0%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542032"/>
            <a:ext cx="2011680" cy="868680"/>
          </a:xfrm>
          <a:prstGeom prst="rect">
            <a:avLst/>
          </a:prstGeom>
          <a:solidFill>
            <a:srgbClr val="0D2235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578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Without Augmentation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898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 Acc: 42.4%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4160520" cy="1143000"/>
          </a:xfrm>
          <a:prstGeom prst="rect">
            <a:avLst/>
          </a:prstGeom>
          <a:solidFill>
            <a:srgbClr val="0D1A0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478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Key Fix: Data Leakage Prevention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Random split → same person's samples in both train &amp;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All 5 emotions per person stay in ONE split — fair evaluation on truly unseen subjects</a:t>
            </a:r>
            <a:endParaRPr lang="en-US" sz="1100" dirty="0"/>
          </a:p>
        </p:txBody>
      </p:sp>
      <p:pic>
        <p:nvPicPr>
          <p:cNvPr id="20" name="Image 0" descr="/mnt/user-data/uploads/1778456267902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749808"/>
            <a:ext cx="4251960" cy="40690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663440" y="484632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</a:rPr>
              <a:t>Exp 3 training curves — improved generalization with absolute difference input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233"/>
          </a:solidFill>
          <a:ln w="12700">
            <a:solidFill>
              <a:srgbClr val="0A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Breakthrough — Reflector Spectrograms Push Accuracy to 90%+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600200" cy="1417320"/>
          </a:xfrm>
          <a:prstGeom prst="rect">
            <a:avLst/>
          </a:prstGeom>
          <a:solidFill>
            <a:srgbClr val="0D2235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Used Spectrograms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Basic approach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47672" y="1143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39112" y="777240"/>
            <a:ext cx="1600200" cy="1417320"/>
          </a:xfrm>
          <a:prstGeom prst="rect">
            <a:avLst/>
          </a:prstGeom>
          <a:solidFill>
            <a:srgbClr val="0D2235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8046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39112" y="12344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Added Reflectors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39112" y="1691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Better signal clarity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66744" y="1143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58184" y="777240"/>
            <a:ext cx="1600200" cy="1417320"/>
          </a:xfrm>
          <a:prstGeom prst="rect">
            <a:avLst/>
          </a:prstGeom>
          <a:solidFill>
            <a:srgbClr val="0D223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8046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58184" y="12344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RGB Images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58184" y="1691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Preserved emotion signatures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85816" y="1143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77256" y="777240"/>
            <a:ext cx="1600200" cy="1417320"/>
          </a:xfrm>
          <a:prstGeom prst="rect">
            <a:avLst/>
          </a:prstGeom>
          <a:solidFill>
            <a:srgbClr val="0D2235"/>
          </a:solidFill>
          <a:ln w="19050">
            <a:solidFill>
              <a:srgbClr val="0060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8046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77256" y="12344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Data Split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77256" y="1691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Fair evaluation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04888" y="1143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96328" y="777240"/>
            <a:ext cx="1600200" cy="1417320"/>
          </a:xfrm>
          <a:prstGeom prst="rect">
            <a:avLst/>
          </a:prstGeom>
          <a:solidFill>
            <a:srgbClr val="0D2235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96328" y="8046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96328" y="12344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Tracked Mistakes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96328" y="1691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Deeper insights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What Changed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2670048"/>
            <a:ext cx="5029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670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65960" y="2670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11880" y="2670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 Fixed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063240"/>
            <a:ext cx="502920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063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A9A"/>
                </a:solidFill>
              </a:rPr>
              <a:t>Sliced Images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11680" y="3063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D6A7"/>
                </a:solidFill>
              </a:rPr>
              <a:t>Full RGB Images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3063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Distorted augmentations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447288"/>
            <a:ext cx="5029200" cy="384048"/>
          </a:xfrm>
          <a:prstGeom prst="rect">
            <a:avLst/>
          </a:prstGeom>
          <a:solidFill>
            <a:srgbClr val="0A2233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447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A9A"/>
                </a:solidFill>
              </a:rPr>
              <a:t>Separate CSVs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11680" y="34472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D6A7"/>
                </a:solidFill>
              </a:rPr>
              <a:t>Unified Dataset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0" y="34472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Risked data overlap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831336"/>
            <a:ext cx="5029200" cy="384048"/>
          </a:xfrm>
          <a:prstGeom prst="rect">
            <a:avLst/>
          </a:prstGeom>
          <a:solidFill>
            <a:srgbClr val="0D2235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8313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A9A"/>
                </a:solidFill>
              </a:rPr>
              <a:t>No Error Tracking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011680" y="38313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D6A7"/>
                </a:solidFill>
              </a:rPr>
              <a:t>Tracked Mistakes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0" y="38313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Overlooked model errors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215384"/>
            <a:ext cx="5029200" cy="384048"/>
          </a:xfrm>
          <a:prstGeom prst="rect">
            <a:avLst/>
          </a:prstGeom>
          <a:solidFill>
            <a:srgbClr val="0A2233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215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A9A"/>
                </a:solidFill>
              </a:rPr>
              <a:t>Random Splits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011680" y="421538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D6A7"/>
                </a:solidFill>
              </a:rPr>
              <a:t>Person-wise Splits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0" y="421538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Caused data leakage</a:t>
            </a:r>
            <a:endParaRPr lang="en-US" sz="1000" dirty="0"/>
          </a:p>
        </p:txBody>
      </p:sp>
      <p:pic>
        <p:nvPicPr>
          <p:cNvPr id="50" name="Image 0" descr="/mnt/user-data/uploads/1778456280707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0680" y="2267712"/>
            <a:ext cx="3474720" cy="2834640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5440680" y="5102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</a:rPr>
              <a:t>Train/Val/Test accuracy reaching 90%+ with reflector spectrograms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394960" y="749808"/>
            <a:ext cx="3520440" cy="1417320"/>
          </a:xfrm>
          <a:prstGeom prst="rect">
            <a:avLst/>
          </a:prstGeom>
          <a:solidFill>
            <a:srgbClr val="0A1F0A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394960" y="8046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FA5"/>
                </a:solidFill>
              </a:rPr>
              <a:t>🏆  Best Result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5394960" y="11430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Accuracy: 90%+</a:t>
            </a:r>
            <a:endParaRPr lang="en-US" sz="2000" dirty="0"/>
          </a:p>
        </p:txBody>
      </p:sp>
      <p:sp>
        <p:nvSpPr>
          <p:cNvPr id="55" name="Text 52"/>
          <p:cNvSpPr/>
          <p:nvPr/>
        </p:nvSpPr>
        <p:spPr>
          <a:xfrm>
            <a:off x="5394960" y="1600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</a:rPr>
              <a:t>Reflectors + Full RGB + Person-wise splits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5394960" y="19019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8CC"/>
                </a:solidFill>
              </a:rPr>
              <a:t>Misclassification analysis → further insights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Spectrogram Visualization</a:t>
            </a:r>
            <a:endParaRPr lang="en-US" sz="3400" dirty="0"/>
          </a:p>
        </p:txBody>
      </p:sp>
      <p:pic>
        <p:nvPicPr>
          <p:cNvPr id="3" name="Image 0" descr="/mnt/user-data/uploads/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283464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914400"/>
            <a:ext cx="2834640" cy="36576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41879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Initial CSI Spectrogram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(Blue palette — quiet state)</a:t>
            </a:r>
            <a:endParaRPr lang="en-US" sz="1000" dirty="0"/>
          </a:p>
        </p:txBody>
      </p:sp>
      <p:pic>
        <p:nvPicPr>
          <p:cNvPr id="6" name="Image 1" descr="/mnt/user-data/uploads/Current_spec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8688" y="914400"/>
            <a:ext cx="2834640" cy="3657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18688" y="914400"/>
            <a:ext cx="2834640" cy="36576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64408" y="41879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Current Spectrogram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(Active CSI with warm signal)</a:t>
            </a:r>
            <a:endParaRPr lang="en-US" sz="1000" dirty="0"/>
          </a:p>
        </p:txBody>
      </p:sp>
      <p:pic>
        <p:nvPicPr>
          <p:cNvPr id="9" name="Image 2" descr="/mnt/user-data/uploads/debug_spec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3056" y="914400"/>
            <a:ext cx="2834640" cy="3657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163056" y="914400"/>
            <a:ext cx="2834640" cy="36576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208776" y="41879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Debug 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(High-energy signal detected)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Emotion Inference</a:t>
            </a:r>
            <a:endParaRPr lang="en-US" sz="3400" dirty="0"/>
          </a:p>
        </p:txBody>
      </p:sp>
      <p:pic>
        <p:nvPicPr>
          <p:cNvPr id="3" name="Image 0" descr="/mnt/user-data/uploads/real_timepredic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303520" cy="2514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4564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Three test runs: Fear 70% | Surprised 78% | Happy 73.83%</a:t>
            </a:r>
            <a:endParaRPr lang="en-US" sz="1000" dirty="0"/>
          </a:p>
        </p:txBody>
      </p:sp>
      <p:pic>
        <p:nvPicPr>
          <p:cNvPr id="5" name="Image 1" descr="/mnt/user-data/uploads/prediction_realTime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777240"/>
            <a:ext cx="3108960" cy="411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60720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</a:rPr>
              <a:t>Detailed output with raw logits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274320" y="3794760"/>
            <a:ext cx="5303520" cy="1143000"/>
          </a:xfrm>
          <a:prstGeom prst="rect">
            <a:avLst/>
          </a:prstGeom>
          <a:solidFill>
            <a:srgbClr val="0D2235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38404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Note: '334.98% confidence' is a known softmax display bug — raw logits are being used directly. Fix in progress (apply softmax before percentage display).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Impact &amp; Use Cases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816352" cy="182880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2412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52704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Healthcare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" y="1874520"/>
            <a:ext cx="2596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monitoring, stress &amp; anxiety detection in clinical settings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914400"/>
            <a:ext cx="2816352" cy="182880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02412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64408" y="152704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Smart Homes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74136" y="1874520"/>
            <a:ext cx="2596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environments that adapt lighting, music, and ambiance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8776" y="914400"/>
            <a:ext cx="2816352" cy="182880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102412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👴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08776" y="152704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Elderly Care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18504" y="1874520"/>
            <a:ext cx="2596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continuous monitoring without cameras or wearables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2816352" cy="182880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9008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0040" y="349300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HCI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" y="3840480"/>
            <a:ext cx="2596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Emotion-adaptive interfaces for gaming, education, and productivity apps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2880360"/>
            <a:ext cx="2816352" cy="182880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299008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64408" y="349300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Security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74136" y="3840480"/>
            <a:ext cx="2596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darkness, through obstacles, with zero privacy footprint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08776" y="2880360"/>
            <a:ext cx="2816352" cy="1828800"/>
          </a:xfrm>
          <a:prstGeom prst="rect">
            <a:avLst/>
          </a:prstGeom>
          <a:solidFill>
            <a:srgbClr val="0A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299008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208776" y="349300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IoT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18504" y="3840480"/>
            <a:ext cx="2596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into existing Wi-Fi infrastructure — no new hardware needed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EmotiFi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F7FA"/>
                </a:solidFill>
              </a:rPr>
              <a:t>Privacy-Preserving · Contactless · Real-Time · On-Device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153619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8483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Wi-Fi Sensing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5877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8CC"/>
                </a:solidFill>
              </a:rPr>
              <a:t>No cameras needed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2011680"/>
            <a:ext cx="153619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208483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Edge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25877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8CC"/>
                </a:solidFill>
              </a:rPr>
              <a:t>On-device inference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2011680"/>
            <a:ext cx="153619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8483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5877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8CC"/>
                </a:solidFill>
              </a:rPr>
              <a:t>Low latency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2011680"/>
            <a:ext cx="153619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08483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5877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8CC"/>
                </a:solidFill>
              </a:rPr>
              <a:t>Original CSI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2011680"/>
            <a:ext cx="153619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08483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Embedded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5877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8CC"/>
                </a:solidFill>
              </a:rPr>
              <a:t>PyTorch Mobile Lite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BEC5"/>
                </a:solidFill>
              </a:rPr>
              <a:t>The Full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8CC"/>
                </a:solidFill>
              </a:rPr>
              <a:t>Wi-Fi CSI  →  Amplitude Extraction  →  Filtering &amp; Normalization  →  Spectrogram Encoding  →  CNN Feature Learning  →  Emotion Classification  →  Mobile Real-Time Inference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</a:rPr>
              <a:t>Sabir Jan  |  BS Computer Engineering  |  COMSATS University Islamabad  |  Final Year Project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919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</a:rPr>
              <a:t>github.com/Saber7Jan/EmotiFi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EmotiFi - Privacy-Preserving Contactless Emotion Recognition</dc:title>
  <dc:subject>PptxGenJS Presentation</dc:subject>
  <dc:creator>Sabir Jan</dc:creator>
  <cp:lastModifiedBy>Sabir Jan</cp:lastModifiedBy>
  <cp:revision>1</cp:revision>
  <dcterms:created xsi:type="dcterms:W3CDTF">2026-05-10T23:43:06Z</dcterms:created>
  <dcterms:modified xsi:type="dcterms:W3CDTF">2026-05-10T23:43:06Z</dcterms:modified>
</cp:coreProperties>
</file>