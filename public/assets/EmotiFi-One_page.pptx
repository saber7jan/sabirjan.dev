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256000" cy="9144000"/>
  <p:notesSz cx="9144000" cy="16256000"/>
  <p:embeddedFontLst>
    <p:embeddedFont>
      <p:font typeface="Li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9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98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D1525"/>
            </a:gs>
            <a:gs pos="100000">
              <a:srgbClr val="070B1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gradFill flip="none" rotWithShape="1">
            <a:gsLst>
              <a:gs pos="0">
                <a:srgbClr val="06B6D4">
                  <a:alpha val="0"/>
                </a:srgbClr>
              </a:gs>
              <a:gs pos="20000">
                <a:srgbClr val="06B6D4"/>
              </a:gs>
              <a:gs pos="8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8000" y="76200"/>
            <a:ext cx="533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kern="0" spc="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EmotiFi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8000" y="6604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Privacy-Preserving Contactless Emotion Recognition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01000" y="127000"/>
            <a:ext cx="1460500" cy="355600"/>
          </a:xfrm>
          <a:prstGeom prst="roundRect">
            <a:avLst>
              <a:gd name="adj" fmla="val 50000"/>
            </a:avLst>
          </a:prstGeom>
          <a:solidFill>
            <a:srgbClr val="06B6D4">
              <a:alpha val="13333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01000" y="127000"/>
            <a:ext cx="146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SENSING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50400" y="12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06B6D4">
              <a:alpha val="13333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50400" y="127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22000" y="1270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06B6D4">
              <a:alpha val="13333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22000" y="127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547600" y="1270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06B6D4">
              <a:alpha val="13333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547600" y="127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PRIVACY-SAFE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24000" y="127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Sabir Jan | COMSATS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" y="1117600"/>
            <a:ext cx="7366000" cy="14859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12446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8500" y="1206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PIPELINE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1500" y="15875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CSI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Amplitude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Spectrogram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→ Extract → Denoise → Segment → Scale → Encode → Classify → Predict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" y="2692400"/>
            <a:ext cx="7366000" cy="23241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" y="28194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8500" y="27813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71500" y="32004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06B6D4">
              <a:alpha val="9412"/>
            </a:srgbClr>
          </a:solidFill>
          <a:ln w="12700">
            <a:solidFill>
              <a:srgbClr val="06B6D4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" y="32004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Transmitter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08200" y="34798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89200" y="32004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06B6D4">
              <a:alpha val="9412"/>
            </a:srgbClr>
          </a:solidFill>
          <a:ln w="12700">
            <a:solidFill>
              <a:srgbClr val="06B6D4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89200" y="32004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Receiver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25900" y="34798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06900" y="32004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06B6D4">
              <a:alpha val="9412"/>
            </a:srgbClr>
          </a:solidFill>
          <a:ln w="12700">
            <a:solidFill>
              <a:srgbClr val="06B6D4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06900" y="32004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Android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USB Serial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34798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24600" y="3200400"/>
            <a:ext cx="1397000" cy="635000"/>
          </a:xfrm>
          <a:prstGeom prst="roundRect">
            <a:avLst>
              <a:gd name="adj" fmla="val 8000"/>
            </a:avLst>
          </a:prstGeom>
          <a:solidFill>
            <a:srgbClr val="22D3EE">
              <a:alpha val="9412"/>
            </a:srgbClr>
          </a:solidFill>
          <a:ln w="12700">
            <a:solidFill>
              <a:srgbClr val="22D3EE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24600" y="32004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 + Norm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1500" y="39624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2D3EE">
              <a:alpha val="9412"/>
            </a:srgbClr>
          </a:solidFill>
          <a:ln w="12700">
            <a:solidFill>
              <a:srgbClr val="22D3EE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" y="39624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Spectrogram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FFT-based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108200" y="42418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89200" y="3962400"/>
            <a:ext cx="1968500" cy="635000"/>
          </a:xfrm>
          <a:prstGeom prst="roundRect">
            <a:avLst>
              <a:gd name="adj" fmla="val 8000"/>
            </a:avLst>
          </a:prstGeom>
          <a:solidFill>
            <a:srgbClr val="10B981">
              <a:alpha val="9412"/>
            </a:srgbClr>
          </a:solidFill>
          <a:ln w="12700">
            <a:solidFill>
              <a:srgbClr val="10B981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489200" y="3962400"/>
            <a:ext cx="1968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Model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EfficientNetV2B0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70400" y="42418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51400" y="3962400"/>
            <a:ext cx="2870200" cy="635000"/>
          </a:xfrm>
          <a:prstGeom prst="roundRect">
            <a:avLst>
              <a:gd name="adj" fmla="val 8000"/>
            </a:avLst>
          </a:prstGeom>
          <a:solidFill>
            <a:srgbClr val="10B981">
              <a:alpha val="9412"/>
            </a:srgbClr>
          </a:solidFill>
          <a:ln w="12700">
            <a:solidFill>
              <a:srgbClr val="10B981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1400" y="3962400"/>
            <a:ext cx="2870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 Output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Happy · Sad · Fear · Neutral · Surprised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46990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· Contactless · Privacy-Safe · Edge AI · No Cloud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500" y="5105400"/>
            <a:ext cx="7366000" cy="20701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1500" y="52324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8500" y="51943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 JOURNEY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571500" y="5588000"/>
            <a:ext cx="1651000" cy="863600"/>
          </a:xfrm>
          <a:prstGeom prst="roundRect">
            <a:avLst>
              <a:gd name="adj" fmla="val 5000"/>
            </a:avLst>
          </a:prstGeom>
          <a:solidFill>
            <a:srgbClr val="EF4444">
              <a:alpha val="7059"/>
            </a:srgbClr>
          </a:solidFill>
          <a:ln w="12700">
            <a:solidFill>
              <a:srgbClr val="EF4444">
                <a:alpha val="18824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1500" y="5588000"/>
            <a:ext cx="165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 1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ResNet18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35200" y="6007100"/>
            <a:ext cx="3302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603500" y="5588000"/>
            <a:ext cx="1625600" cy="863600"/>
          </a:xfrm>
          <a:prstGeom prst="roundRect">
            <a:avLst>
              <a:gd name="adj" fmla="val 5000"/>
            </a:avLst>
          </a:prstGeom>
          <a:solidFill>
            <a:srgbClr val="F59E0B">
              <a:alpha val="7059"/>
            </a:srgbClr>
          </a:solidFill>
          <a:ln w="12700">
            <a:solidFill>
              <a:srgbClr val="F59E0B">
                <a:alpha val="18824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603500" y="5588000"/>
            <a:ext cx="1625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 2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EffNetV2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41800" y="6007100"/>
            <a:ext cx="3302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10100" y="5588000"/>
            <a:ext cx="1625600" cy="863600"/>
          </a:xfrm>
          <a:prstGeom prst="roundRect">
            <a:avLst>
              <a:gd name="adj" fmla="val 5000"/>
            </a:avLst>
          </a:prstGeom>
          <a:solidFill>
            <a:srgbClr val="F59E0B">
              <a:alpha val="7059"/>
            </a:srgbClr>
          </a:solidFill>
          <a:ln w="12700">
            <a:solidFill>
              <a:srgbClr val="F59E0B">
                <a:alpha val="18824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10100" y="5588000"/>
            <a:ext cx="1625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 3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 Diff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48400" y="6007100"/>
            <a:ext cx="3302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616700" y="5588000"/>
            <a:ext cx="1117600" cy="863600"/>
          </a:xfrm>
          <a:prstGeom prst="roundRect">
            <a:avLst>
              <a:gd name="adj" fmla="val 5000"/>
            </a:avLst>
          </a:prstGeom>
          <a:solidFill>
            <a:srgbClr val="10B981">
              <a:alpha val="9412"/>
            </a:srgbClr>
          </a:solidFill>
          <a:ln w="12700">
            <a:solidFill>
              <a:srgbClr val="10B981">
                <a:alpha val="3137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16700" y="5588000"/>
            <a:ext cx="1117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71500" y="6527800"/>
            <a:ext cx="717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Breakthrough: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Reflector spectrograms + Full RGB images + Person-wise data splitting eliminated data leakage and boosted signal clarity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4500" y="7264400"/>
            <a:ext cx="7366000" cy="9906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1500" y="73914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8500" y="73533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71500" y="7670800"/>
            <a:ext cx="711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CSI streaming </a:t>
            </a: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Android spectrogram rendering </a:t>
            </a: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PyTorch Lite mobile deployment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 dataset (1,540 samples) </a:t>
            </a: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USB serial integration </a:t>
            </a:r>
            <a:r>
              <a:rPr lang="en-US" sz="1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90%+ test accuracy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937500" y="1117600"/>
            <a:ext cx="7874000" cy="21844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064500" y="12446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191500" y="120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064500" y="15494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90%+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064500" y="2349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Accuracy Achieved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064500" y="26162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Model: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EfficientNetV2B0 + PyTorch Lite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Technique:</a:t>
            </a: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Reflector spectrograms | Dataset: 1,540 samples</a:t>
            </a:r>
            <a:endParaRPr lang="en-US" sz="1600" dirty="0"/>
          </a:p>
        </p:txBody>
      </p:sp>
      <p:pic>
        <p:nvPicPr>
          <p:cNvPr id="66" name="Image 0" descr="https://kimi-img.moonshot.cn/pub/slides/okc/lgqb4bptfofbc/mnt/agents/output/emotifi_converted/images/image_7.png"/>
          <p:cNvPicPr>
            <a:picLocks noChangeAspect="1"/>
          </p:cNvPicPr>
          <p:nvPr/>
        </p:nvPicPr>
        <p:blipFill>
          <a:blip r:embed="rId3"/>
          <a:srcRect l="5000" t="5000" r="5000" b="15000"/>
          <a:stretch/>
        </p:blipFill>
        <p:spPr>
          <a:xfrm>
            <a:off x="7835900" y="6696075"/>
            <a:ext cx="4038600" cy="1558925"/>
          </a:xfrm>
          <a:prstGeom prst="roundRect">
            <a:avLst>
              <a:gd name="adj" fmla="val 5000"/>
            </a:avLst>
          </a:prstGeom>
        </p:spPr>
      </p:pic>
      <p:sp>
        <p:nvSpPr>
          <p:cNvPr id="67" name="Shape 64"/>
          <p:cNvSpPr/>
          <p:nvPr/>
        </p:nvSpPr>
        <p:spPr>
          <a:xfrm>
            <a:off x="7937500" y="3365500"/>
            <a:ext cx="7874000" cy="17780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8064500" y="34925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8191500" y="34544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SOLUTION</a:t>
            </a:r>
            <a:endParaRPr lang="en-US" sz="2000" dirty="0"/>
          </a:p>
        </p:txBody>
      </p:sp>
      <p:sp>
        <p:nvSpPr>
          <p:cNvPr id="70" name="Text 67"/>
          <p:cNvSpPr/>
          <p:nvPr/>
        </p:nvSpPr>
        <p:spPr>
          <a:xfrm>
            <a:off x="8064500" y="3810000"/>
            <a:ext cx="3619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Cameras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Privacy violations, intrusive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Wearables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Uncomfortable, impractical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 Sensors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Expensive, not scalable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11747500" y="3810000"/>
            <a:ext cx="12700" cy="12065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1874500" y="3810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CSI via </a:t>
            </a:r>
            <a:r>
              <a:rPr lang="en-US" sz="1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camera, no wearable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Detects subtle body disturbances from emotions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emotions: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Happy, Sad, Fear, Neutral, Surprised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7937500" y="5232400"/>
            <a:ext cx="3873500" cy="15240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8064500" y="53594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191500" y="53213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2000" dirty="0"/>
          </a:p>
        </p:txBody>
      </p:sp>
      <p:sp>
        <p:nvSpPr>
          <p:cNvPr id="76" name="Text 73"/>
          <p:cNvSpPr/>
          <p:nvPr/>
        </p:nvSpPr>
        <p:spPr>
          <a:xfrm>
            <a:off x="8064500" y="5651500"/>
            <a:ext cx="3619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🏥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Mental wellness monitoring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🏠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Homes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Emotion-aware environments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💻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HCI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Adaptive gaming interfaces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🔒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Zero-privacy-footprint sensing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1938000" y="5232400"/>
            <a:ext cx="3873500" cy="1524000"/>
          </a:xfrm>
          <a:prstGeom prst="roundRect">
            <a:avLst>
              <a:gd name="adj" fmla="val 5000"/>
            </a:avLst>
          </a:prstGeom>
          <a:solidFill>
            <a:srgbClr val="151D2E">
              <a:alpha val="6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2065000" y="53594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12192000" y="53213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SPECTROGRAM</a:t>
            </a:r>
            <a:endParaRPr lang="en-US" sz="2000" dirty="0"/>
          </a:p>
        </p:txBody>
      </p:sp>
      <p:pic>
        <p:nvPicPr>
          <p:cNvPr id="80" name="Image 1" descr="https://kimi-img.moonshot.cn/pub/slides/okc/lgqb4bptfofbc/mnt/agents/output/emotifi_converted/images/image_9.jpg"/>
          <p:cNvPicPr>
            <a:picLocks noChangeAspect="1"/>
          </p:cNvPicPr>
          <p:nvPr/>
        </p:nvPicPr>
        <p:blipFill>
          <a:blip r:embed="rId4"/>
          <a:srcRect t="10000" b="15000"/>
          <a:stretch/>
        </p:blipFill>
        <p:spPr>
          <a:xfrm>
            <a:off x="12065000" y="5651500"/>
            <a:ext cx="3619500" cy="990600"/>
          </a:xfrm>
          <a:prstGeom prst="roundRect">
            <a:avLst>
              <a:gd name="adj" fmla="val 5000"/>
            </a:avLst>
          </a:prstGeom>
        </p:spPr>
      </p:pic>
      <p:sp>
        <p:nvSpPr>
          <p:cNvPr id="82" name="Shape 78"/>
          <p:cNvSpPr/>
          <p:nvPr/>
        </p:nvSpPr>
        <p:spPr>
          <a:xfrm>
            <a:off x="8064500" y="6946900"/>
            <a:ext cx="38100" cy="254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11747500" y="57785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ANDROID APP</a:t>
            </a:r>
            <a:endParaRPr lang="en-US" sz="2000" dirty="0"/>
          </a:p>
        </p:txBody>
      </p:sp>
      <p:pic>
        <p:nvPicPr>
          <p:cNvPr id="84" name="Image 2" descr="https://kimi-img.moonshot.cn/pub/slides/okc/lgqb4bptfofbc/mnt/agents/output/emotifi_converted/images/image_12.jpg"/>
          <p:cNvPicPr>
            <a:picLocks noChangeAspect="1"/>
          </p:cNvPicPr>
          <p:nvPr/>
        </p:nvPicPr>
        <p:blipFill>
          <a:blip r:embed="rId5"/>
          <a:srcRect t="5000" b="5000"/>
          <a:stretch/>
        </p:blipFill>
        <p:spPr>
          <a:xfrm>
            <a:off x="10102849" y="819150"/>
            <a:ext cx="2374901" cy="1758950"/>
          </a:xfrm>
          <a:prstGeom prst="roundRect">
            <a:avLst>
              <a:gd name="adj" fmla="val 5000"/>
            </a:avLst>
          </a:prstGeom>
        </p:spPr>
      </p:pic>
      <p:pic>
        <p:nvPicPr>
          <p:cNvPr id="85" name="Image 3" descr="https://kimi-img.moonshot.cn/pub/slides/okc/lgqb4bptfofbc/mnt/agents/output/emotifi_converted/images/image_11.jpg"/>
          <p:cNvPicPr>
            <a:picLocks noChangeAspect="1"/>
          </p:cNvPicPr>
          <p:nvPr/>
        </p:nvPicPr>
        <p:blipFill>
          <a:blip r:embed="rId6"/>
          <a:srcRect l="10000" t="5000" r="10000" b="5000"/>
          <a:stretch/>
        </p:blipFill>
        <p:spPr>
          <a:xfrm>
            <a:off x="12509500" y="914400"/>
            <a:ext cx="3708400" cy="2895600"/>
          </a:xfrm>
          <a:prstGeom prst="roundRect">
            <a:avLst>
              <a:gd name="adj" fmla="val 5000"/>
            </a:avLst>
          </a:prstGeom>
        </p:spPr>
      </p:pic>
      <p:sp>
        <p:nvSpPr>
          <p:cNvPr id="86" name="Text 80"/>
          <p:cNvSpPr/>
          <p:nvPr/>
        </p:nvSpPr>
        <p:spPr>
          <a:xfrm>
            <a:off x="12192000" y="6921500"/>
            <a:ext cx="3530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On-Device Inference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 Mobile Lite + ONNX Runtime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USB serial CSI streaming from ESP32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spectrogram + emotion prediction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Tested: Fear 70% | Surprised 78% | Happy 74%</a:t>
            </a:r>
            <a:endParaRPr lang="en-US" sz="1600" dirty="0"/>
          </a:p>
        </p:txBody>
      </p:sp>
      <p:sp>
        <p:nvSpPr>
          <p:cNvPr id="87" name="Shape 81"/>
          <p:cNvSpPr/>
          <p:nvPr/>
        </p:nvSpPr>
        <p:spPr>
          <a:xfrm>
            <a:off x="508000" y="8229600"/>
            <a:ext cx="15240000" cy="127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/>
          <p:nvPr/>
        </p:nvSpPr>
        <p:spPr>
          <a:xfrm>
            <a:off x="508000" y="8280400"/>
            <a:ext cx="152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CSI → Amplitude Extraction → Filtering → Spectrogram → CNN → Emotion → Mobile Inference</a:t>
            </a:r>
            <a:endParaRPr lang="en-US" sz="1600" dirty="0"/>
          </a:p>
        </p:txBody>
      </p:sp>
      <p:sp>
        <p:nvSpPr>
          <p:cNvPr id="89" name="Text 83"/>
          <p:cNvSpPr/>
          <p:nvPr/>
        </p:nvSpPr>
        <p:spPr>
          <a:xfrm>
            <a:off x="508000" y="8534400"/>
            <a:ext cx="152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Sabir Jan</a:t>
            </a: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BS Computer Engineering | </a:t>
            </a:r>
            <a:r>
              <a:rPr lang="en-US" sz="13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COMSATS University Islamabad</a:t>
            </a: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r>
              <a:rPr lang="en-US" sz="13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github.com/Saber7Jan/EmotiFi</a:t>
            </a:r>
            <a:endParaRPr lang="en-US" sz="1600" dirty="0"/>
          </a:p>
        </p:txBody>
      </p:sp>
      <p:sp>
        <p:nvSpPr>
          <p:cNvPr id="90" name="Text 84"/>
          <p:cNvSpPr/>
          <p:nvPr/>
        </p:nvSpPr>
        <p:spPr>
          <a:xfrm>
            <a:off x="508000" y="8826500"/>
            <a:ext cx="152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Year Project | Contactless Emotion Recognition using Wi-Fi CSI and Deep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342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Liter</vt:lpstr>
      <vt:lpstr>Custom Theme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EmotiFi — One Page Project Showcase</dc:title>
  <dc:subject>EmotiFi — One Page Project Showcase</dc:subject>
  <dc:creator>Kimi</dc:creator>
  <cp:lastModifiedBy>FA20-BCE-075</cp:lastModifiedBy>
  <cp:revision>2</cp:revision>
  <dcterms:created xsi:type="dcterms:W3CDTF">2026-05-11T00:16:50Z</dcterms:created>
  <dcterms:modified xsi:type="dcterms:W3CDTF">2026-05-20T18:13:32Z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{"Label":"EmotiFi — One Page Project Showcase","ContentProducer":"001191110108MACG2KBH8F10000","ProduceID":"19e1462d-d912-83e0-8000-0000cf161a6a","ReservedCode1":"","ContentPropagator":"001191110108MACG2KBH8F20000","PropagateID":"19e1462d-d912-83e0-8000-0000cf161a6a","ReservedCode2":""}</vt:lpwstr>
  </property>
</Properties>
</file>